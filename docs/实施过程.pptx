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计算机操作系统（第4版）· 课程知识库智能问答系统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专业素养培养 · 分组实践作业</a:t>
            </a:r>
          </a:p>
          <a:p>
            <a:r>
              <a:t>技术栈：方案 C（纯 Python + SQLite FTS5 + 直连 LLM API）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一、作业背景：什么是 RAG 问答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RAG = Retrieval-Augmented Generation（检索增强生成）</a:t>
            </a:r>
          </a:p>
          <a:p>
            <a:pPr>
              <a:spcAft>
                <a:spcPts val="600"/>
              </a:spcAft>
            </a:pPr>
            <a:r>
              <a:t>核心思想：先“检索”教材相关内容，再“生成”回答，而非依赖模型记忆</a:t>
            </a:r>
          </a:p>
          <a:p>
            <a:pPr>
              <a:spcAft>
                <a:spcPts val="600"/>
              </a:spcAft>
            </a:pPr>
            <a:r>
              <a:t>价值：有效避免大语言模型的“幻觉”，答案可溯源到教材页码</a:t>
            </a:r>
          </a:p>
          <a:p>
            <a:pPr>
              <a:spcAft>
                <a:spcPts val="600"/>
              </a:spcAft>
            </a:pPr>
            <a:r>
              <a:t>本作业要求：选一门课程教材 → 建本地知识库 → 配只基于教材问答、带页码引用的系统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二、强制行为约束（R1~R6，与技术栈无关）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R1 回答前必须先检索知识库</a:t>
            </a:r>
          </a:p>
          <a:p>
            <a:pPr>
              <a:spcAft>
                <a:spcPts val="600"/>
              </a:spcAft>
            </a:pPr>
            <a:r>
              <a:t>R2 只能使用检索到的教材内容，禁止模型内部知识</a:t>
            </a:r>
          </a:p>
          <a:p>
            <a:pPr>
              <a:spcAft>
                <a:spcPts val="600"/>
              </a:spcAft>
            </a:pPr>
            <a:r>
              <a:t>R3 每个事实陈述附页码引用【教材 p.XX】</a:t>
            </a:r>
          </a:p>
          <a:p>
            <a:pPr>
              <a:spcAft>
                <a:spcPts val="600"/>
              </a:spcAft>
            </a:pPr>
            <a:r>
              <a:t>R4 简单中文解释，关键术语保留英文（process / thread / deadlock）</a:t>
            </a:r>
          </a:p>
          <a:p>
            <a:pPr>
              <a:spcAft>
                <a:spcPts val="600"/>
              </a:spcAft>
            </a:pPr>
            <a:r>
              <a:t>R5 未覆盖内容必须如实说明，不编造</a:t>
            </a:r>
          </a:p>
          <a:p>
            <a:pPr>
              <a:spcAft>
                <a:spcPts val="600"/>
              </a:spcAft>
            </a:pPr>
            <a:r>
              <a:t>R6 禁止输出连续 &gt;3 句原文（版权保护）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三、技术选型：为什么选方案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方案 A（参考案例）：Node + DSH 框架 + FTS5 —— 中，生态重</a:t>
            </a:r>
          </a:p>
          <a:p>
            <a:pPr>
              <a:spcAft>
                <a:spcPts val="600"/>
              </a:spcAft>
            </a:pPr>
            <a:r>
              <a:t>方案 B：ChromaDB/FAISS + LangChain —— 中高，需 ML 基础</a:t>
            </a:r>
          </a:p>
          <a:p>
            <a:pPr>
              <a:spcAft>
                <a:spcPts val="600"/>
              </a:spcAft>
            </a:pPr>
            <a:r>
              <a:t>方案 C（本实现）：SQLite FTS5 + 纯 Python + 直连 LLM API —— 低中</a:t>
            </a:r>
          </a:p>
          <a:p>
            <a:pPr>
              <a:spcAft>
                <a:spcPts val="600"/>
              </a:spcAft>
            </a:pPr>
            <a:r>
              <a:t>方案 D：Dify/FastGPT 低代码 —— 低，黑盒</a:t>
            </a:r>
          </a:p>
          <a:p>
            <a:pPr>
              <a:spcAft>
                <a:spcPts val="600"/>
              </a:spcAft>
            </a:pPr>
            <a:r>
              <a:t>选 C 的理由：零 RAG 框架依赖、最易读懂、与参考案例差异化、利于演示 RAG 原理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四、知识库概览（教材：《计算机操作系统（第4版）》）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教材页数：416 页（图片型 PDF，无文本层 → 需 OCR）</a:t>
            </a:r>
          </a:p>
          <a:p>
            <a:pPr>
              <a:spcAft>
                <a:spcPts val="600"/>
              </a:spcAft>
            </a:pPr>
            <a:r>
              <a:t>章节数：12 章（基于 PDF 目录自动检测）</a:t>
            </a:r>
          </a:p>
          <a:p>
            <a:pPr>
              <a:spcAft>
                <a:spcPts val="600"/>
              </a:spcAft>
            </a:pPr>
            <a:r>
              <a:t>文本块数：392 块（滑动窗口 + 重叠分块）</a:t>
            </a:r>
          </a:p>
          <a:p>
            <a:pPr>
              <a:spcAft>
                <a:spcPts val="600"/>
              </a:spcAft>
            </a:pPr>
            <a:r>
              <a:t>检索：SQLite FTS5 + trigram 分词 + BM25（对中文无需分词，开箱即用）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五、Phase 1 知识库构建流程（成员 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PDF/OCR</a:t>
            </a:r>
            <a:br/>
            <a:r>
              <a:t>提取每页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3852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目录检测</a:t>
            </a:r>
            <a:br/>
            <a:r>
              <a:t>章节边界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304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滑动窗口</a:t>
            </a:r>
            <a:br/>
            <a:r>
              <a:t>语义分块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756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FTS5</a:t>
            </a:r>
            <a:br/>
            <a:r>
              <a:t>建库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验证</a:t>
            </a:r>
            <a:br/>
            <a:r>
              <a:t>覆盖率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六、分块策略（成员 A）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按章节分组，章节内用滑动窗口</a:t>
            </a:r>
          </a:p>
          <a:p>
            <a:pPr>
              <a:spcAft>
                <a:spcPts val="600"/>
              </a:spcAft>
            </a:pPr>
            <a:r>
              <a:t>目标块大小：800~1200 token（≈1300~1900 中文字）</a:t>
            </a:r>
          </a:p>
          <a:p>
            <a:pPr>
              <a:spcAft>
                <a:spcPts val="600"/>
              </a:spcAft>
            </a:pPr>
            <a:r>
              <a:t>块间重叠 220 字，保证上下文连续、减少边界信息丢失</a:t>
            </a:r>
          </a:p>
          <a:p>
            <a:pPr>
              <a:spcAft>
                <a:spcPts val="600"/>
              </a:spcAft>
            </a:pPr>
            <a:r>
              <a:t>每块记录：text / page_start / page_end / chapter（四类元数据齐全）</a:t>
            </a:r>
          </a:p>
          <a:p>
            <a:pPr>
              <a:spcAft>
                <a:spcPts val="600"/>
              </a:spcAft>
            </a:pPr>
            <a:r>
              <a:t>OCR 逐页识别并缓存（docs/pages_ocr.jsonl），避免重复识别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七、Phase 2 智能体配置（成员 B）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检索工具 knowledge_search(query)：返回带页码的教材片段</a:t>
            </a:r>
          </a:p>
          <a:p>
            <a:pPr>
              <a:spcAft>
                <a:spcPts val="600"/>
              </a:spcAft>
            </a:pPr>
            <a:r>
              <a:t>系统提示词：五段式，落实 R1~R6（见 prompts/system_prompt.txt）</a:t>
            </a:r>
          </a:p>
          <a:p>
            <a:pPr>
              <a:spcAft>
                <a:spcPts val="600"/>
              </a:spcAft>
            </a:pPr>
            <a:r>
              <a:t>RAG 编排：代码层先检索后回答，不依赖模型自觉调用工具</a:t>
            </a:r>
          </a:p>
          <a:p>
            <a:pPr>
              <a:spcAft>
                <a:spcPts val="600"/>
              </a:spcAft>
            </a:pPr>
            <a:r>
              <a:t>LLM：OpenAI 兼容 API（DeepSeek 等），无 Key 时退化“检索合成”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八、系统提示词五段结构（成员 B）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① RAG 工作流：先检索后回答（R1）</a:t>
            </a:r>
          </a:p>
          <a:p>
            <a:pPr>
              <a:spcAft>
                <a:spcPts val="600"/>
              </a:spcAft>
            </a:pPr>
            <a:r>
              <a:t>② 知识边界：只用教材（R2）</a:t>
            </a:r>
          </a:p>
          <a:p>
            <a:pPr>
              <a:spcAft>
                <a:spcPts val="600"/>
              </a:spcAft>
            </a:pPr>
            <a:r>
              <a:t>③ 引用规范：每条事实附【教材 p.XX】（R3）</a:t>
            </a:r>
          </a:p>
          <a:p>
            <a:pPr>
              <a:spcAft>
                <a:spcPts val="600"/>
              </a:spcAft>
            </a:pPr>
            <a:r>
              <a:t>④ 语言风格：简单中文 + 保留英文术语（R4）</a:t>
            </a:r>
          </a:p>
          <a:p>
            <a:pPr>
              <a:spcAft>
                <a:spcPts val="600"/>
              </a:spcAft>
            </a:pPr>
            <a:r>
              <a:t>⑤ 版权与诚实：禁 &gt;3 句原文 + 未覆盖如实说（R5/R6）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九、RAG 工作流：检索先于回答（R1 双保险）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用户提问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3852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knowledge_search</a:t>
            </a:r>
            <a:br/>
            <a:r>
              <a:t>强制先检索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304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注入上下文</a:t>
            </a:r>
            <a:br/>
            <a:r>
              <a:t>+页码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756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LLM 生成</a:t>
            </a:r>
            <a:br/>
            <a:r>
              <a:t>/合成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24231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0392B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11680"/>
            <a:ext cx="1554480" cy="1188720"/>
          </a:xfrm>
          <a:prstGeom prst="rect">
            <a:avLst/>
          </a:prstGeom>
          <a:solidFill>
            <a:srgbClr val="F2F4F7"/>
          </a:solidFill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222222"/>
                </a:solidFill>
              </a:defRPr>
            </a:pPr>
            <a:r>
              <a:t>带引用回答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十、拓展挑战 ①：可视化界面（CLI）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命令行交互式问答，零前端依赖、零额外包</a:t>
            </a:r>
          </a:p>
          <a:p>
            <a:pPr>
              <a:spcAft>
                <a:spcPts val="600"/>
              </a:spcAft>
            </a:pPr>
            <a:r>
              <a:t>实时展示检索过程：命中条数 + 引用 + 章节</a:t>
            </a:r>
          </a:p>
          <a:p>
            <a:pPr>
              <a:spcAft>
                <a:spcPts val="600"/>
              </a:spcAft>
            </a:pPr>
            <a:r>
              <a:t>命令：/search 仅检索、/clear 清空历史、/quit 退出</a:t>
            </a:r>
          </a:p>
          <a:p>
            <a:pPr>
              <a:spcAft>
                <a:spcPts val="600"/>
              </a:spcAft>
            </a:pPr>
            <a:r>
              <a:t>价值：无需搭服务器即可课堂演示完整 RAG 行为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十一、拓展挑战 ②：多轮对话（指代消解）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维护对话历史，理解上下文中的“它 / 该 / 上述”等指代</a:t>
            </a:r>
          </a:p>
          <a:p>
            <a:pPr>
              <a:spcAft>
                <a:spcPts val="600"/>
              </a:spcAft>
            </a:pPr>
            <a:r>
              <a:t>检测到指代时，用上一轮问题扩展检索查询，提升命中准确率</a:t>
            </a:r>
          </a:p>
          <a:p>
            <a:pPr>
              <a:spcAft>
                <a:spcPts val="600"/>
              </a:spcAft>
            </a:pPr>
            <a:r>
              <a:t>历史同时注入给 LLM，使其能正确解析指代</a:t>
            </a:r>
          </a:p>
          <a:p>
            <a:pPr>
              <a:spcAft>
                <a:spcPts val="600"/>
              </a:spcAft>
            </a:pPr>
            <a:r>
              <a:t>示例：先问“进程同步”，再问“它有哪些经典问题？”→ 命中正确章节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十二、测试验证（成员 C）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≥3 个问答案例逐条验证 R1~R6（见 docs/test_report.docx）</a:t>
            </a:r>
          </a:p>
          <a:p>
            <a:pPr>
              <a:spcAft>
                <a:spcPts val="600"/>
              </a:spcAft>
            </a:pPr>
            <a:r>
              <a:t>覆盖：死锁预防、页面置换、进程 vs 线程（教材内）</a:t>
            </a:r>
          </a:p>
          <a:p>
            <a:pPr>
              <a:spcAft>
                <a:spcPts val="600"/>
              </a:spcAft>
            </a:pPr>
            <a:r>
              <a:t>超纲问题（Kafka 配置）→ 验证 R5 诚实拒答</a:t>
            </a:r>
          </a:p>
          <a:p>
            <a:pPr>
              <a:spcAft>
                <a:spcPts val="600"/>
              </a:spcAft>
            </a:pPr>
            <a:r>
              <a:t>多轮指代案例 → 验证拓展挑战“多轮对话”</a:t>
            </a:r>
          </a:p>
          <a:p>
            <a:pPr>
              <a:spcAft>
                <a:spcPts val="600"/>
              </a:spcAft>
            </a:pPr>
            <a:r>
              <a:t>结论：R1/R3/R5/R6 硬性约束全部满足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十三、交付物清单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① 知识库：knowledge_base.db + build_kb.py</a:t>
            </a:r>
          </a:p>
          <a:p>
            <a:pPr>
              <a:spcAft>
                <a:spcPts val="600"/>
              </a:spcAft>
            </a:pPr>
            <a:r>
              <a:t>② 检索工具：retrieval.py（knowledge_search）</a:t>
            </a:r>
          </a:p>
          <a:p>
            <a:pPr>
              <a:spcAft>
                <a:spcPts val="600"/>
              </a:spcAft>
            </a:pPr>
            <a:r>
              <a:t>③ 系统提示词：system_prompt.txt + prompt_design.md</a:t>
            </a:r>
          </a:p>
          <a:p>
            <a:pPr>
              <a:spcAft>
                <a:spcPts val="600"/>
              </a:spcAft>
            </a:pPr>
            <a:r>
              <a:t>④ 智能体配置：agent_config.json.example + qa_system.py</a:t>
            </a:r>
          </a:p>
          <a:p>
            <a:pPr>
              <a:spcAft>
                <a:spcPts val="600"/>
              </a:spcAft>
            </a:pPr>
            <a:r>
              <a:t>⑤ 测试报告：docs/test_report.docx</a:t>
            </a:r>
          </a:p>
          <a:p>
            <a:pPr>
              <a:spcAft>
                <a:spcPts val="600"/>
              </a:spcAft>
            </a:pPr>
            <a:r>
              <a:t>⑥ 实施过程 PPT：本文件</a:t>
            </a:r>
          </a:p>
          <a:p>
            <a:pPr>
              <a:spcAft>
                <a:spcPts val="600"/>
              </a:spcAft>
            </a:pPr>
            <a:r>
              <a:t>⑦ 小组分工说明：docs/division.md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十四、小组分工（成员 A~D）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成员 A · 知识库构建：PDF(OCR)提取、章节检测、语义分块、FTS5 建库、验证</a:t>
            </a:r>
          </a:p>
          <a:p>
            <a:pPr>
              <a:spcAft>
                <a:spcPts val="600"/>
              </a:spcAft>
            </a:pPr>
            <a:r>
              <a:t>成员 B · 智能体配置：knowledge_search、系统提示词设计、RAG 编排</a:t>
            </a:r>
          </a:p>
          <a:p>
            <a:pPr>
              <a:spcAft>
                <a:spcPts val="600"/>
              </a:spcAft>
            </a:pPr>
            <a:r>
              <a:t>成员 C · 测试验证：冒烟测试、R1~R6 合规验证、测试报告</a:t>
            </a:r>
          </a:p>
          <a:p>
            <a:pPr>
              <a:spcAft>
                <a:spcPts val="600"/>
              </a:spcAft>
            </a:pPr>
            <a:r>
              <a:t>成员 D · 汇报展示：PPT 制作、文档整理（含本 PPT 与分工说明）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十五、总结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t>纯 Python 实现 RAG 问答，零重型框架、与参考案例差异化</a:t>
            </a:r>
          </a:p>
          <a:p>
            <a:pPr>
              <a:spcAft>
                <a:spcPts val="600"/>
              </a:spcAft>
            </a:pPr>
            <a:r>
              <a:t>代码层强制“先检索后回答”，R1~R6 可逐条验证</a:t>
            </a:r>
          </a:p>
          <a:p>
            <a:pPr>
              <a:spcAft>
                <a:spcPts val="600"/>
              </a:spcAft>
            </a:pPr>
            <a:r>
              <a:t>完成 2 项拓展挑战：可视化界面 + 多轮对话</a:t>
            </a:r>
          </a:p>
          <a:p>
            <a:pPr>
              <a:spcAft>
                <a:spcPts val="600"/>
              </a:spcAft>
            </a:pPr>
            <a:r>
              <a:t>可演进：换教材只需重跑 build_kb；可平滑接入向量/混合检索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